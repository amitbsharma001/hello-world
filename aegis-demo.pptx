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191919"/>
                </a:solidFill>
                <a:latin typeface="Inter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13232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Inter"/>
              </a:rPr>
              <a:t>Aegis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Autonomous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0">
                <a:solidFill>
                  <a:srgbClr val="CFCFCD"/>
                </a:solidFill>
                <a:latin typeface="Inter"/>
              </a:rPr>
              <a:t>for ticket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CFCFCD"/>
                </a:solidFill>
                <a:latin typeface="Inter"/>
              </a:rPr>
              <a:t>Triage. Investigate. Resolve. With tool use. Visible reasoning. 96 tests green.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17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787774"/>
                </a:solidFill>
                <a:latin typeface="Inter"/>
              </a:rPr>
              <a:t>Demo build • Notion-style UI • Mock Gemini fallback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91919"/>
                </a:solidFill>
                <a:latin typeface="Inter"/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787774"/>
                </a:solidFill>
                <a:latin typeface="Inter"/>
              </a:rPr>
              <a:t>A Django sub-app you install, mount, and migrate. Five lines.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651760" cy="3291840"/>
          </a:xfrm>
          <a:prstGeom prst="rect">
            <a:avLst/>
          </a:prstGeom>
          <a:solidFill>
            <a:srgbClr val="F7F6F3"/>
          </a:solidFill>
          <a:ln w="9525">
            <a:solidFill>
              <a:srgbClr val="F1F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03120"/>
            <a:ext cx="365760" cy="36576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  <a:latin typeface="Inter"/>
              </a:rPr>
              <a:t>Autonomous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5468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Inter"/>
              </a:rPr>
              <a:t>Triage → Investigator →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Inter"/>
              </a:rPr>
              <a:t>Resolver. ReAct loop with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Inter"/>
              </a:rPr>
              <a:t>tool use. Visible reasoning.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Inter"/>
              </a:rPr>
              <a:t>Multi-agent handoff.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828800"/>
            <a:ext cx="2651760" cy="3291840"/>
          </a:xfrm>
          <a:prstGeom prst="rect">
            <a:avLst/>
          </a:prstGeom>
          <a:solidFill>
            <a:srgbClr val="F7F6F3"/>
          </a:solidFill>
          <a:ln w="9525">
            <a:solidFill>
              <a:srgbClr val="F1F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57600" y="2103120"/>
            <a:ext cx="365760" cy="36576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060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  <a:latin typeface="Inter"/>
              </a:rPr>
              <a:t>User-based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15468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Inter"/>
              </a:rPr>
              <a:t>Admin sees all tickets.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Inter"/>
              </a:rPr>
              <a:t>Regular users see only their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Inter"/>
              </a:rPr>
              <a:t>own. Enforced in views,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Inter"/>
              </a:rPr>
              <a:t>HTMX, REST API.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2651760" cy="3291840"/>
          </a:xfrm>
          <a:prstGeom prst="rect">
            <a:avLst/>
          </a:prstGeom>
          <a:solidFill>
            <a:srgbClr val="F7F6F3"/>
          </a:solidFill>
          <a:ln w="9525">
            <a:solidFill>
              <a:srgbClr val="F1F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2103120"/>
            <a:ext cx="365760" cy="36576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  <a:latin typeface="Inter"/>
              </a:rPr>
              <a:t>AI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15468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Inter"/>
              </a:rPr>
              <a:t>Gemini structured outputs.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Inter"/>
              </a:rPr>
              <a:t>Mock client for offline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Inter"/>
              </a:rPr>
              <a:t>demos. Per-call cost tracking.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Inter"/>
              </a:rPr>
              <a:t>Retry / circuit-breaker.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828800"/>
            <a:ext cx="2651760" cy="3291840"/>
          </a:xfrm>
          <a:prstGeom prst="rect">
            <a:avLst/>
          </a:prstGeom>
          <a:solidFill>
            <a:srgbClr val="F7F6F3"/>
          </a:solidFill>
          <a:ln w="9525">
            <a:solidFill>
              <a:srgbClr val="F1F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35440" y="2103120"/>
            <a:ext cx="365760" cy="36576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6060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  <a:latin typeface="Inter"/>
              </a:rPr>
              <a:t>Production hooks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15468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Inter"/>
              </a:rPr>
              <a:t>Celery (sync default).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Inter"/>
              </a:rPr>
              <a:t>DRF REST API.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Inter"/>
              </a:rPr>
              <a:t>Django admin integration.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Inter"/>
              </a:rPr>
              <a:t>96 passing tests.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65099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FCFCD"/>
                </a:solidFill>
                <a:latin typeface="Inter"/>
              </a:rPr>
              <a:t>Quickstart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94360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JetBrains Mono"/>
              </a:rPr>
              <a:t>pip install -e .   ▸   python manage.py migrate aegis   ▸   python manage.py aegis_demo --analyze   ▸   runserver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91919"/>
                </a:solidFill>
                <a:latin typeface="Inter"/>
              </a:rPr>
              <a:t>Sign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774"/>
                </a:solidFill>
                <a:latin typeface="Inter"/>
              </a:rPr>
              <a:t>/accounts/login/  — Aegis is user-based: who you are decides what you see.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882128" cy="3887978"/>
          </a:xfrm>
          <a:prstGeom prst="rect">
            <a:avLst/>
          </a:prstGeom>
          <a:noFill/>
          <a:ln w="9525">
            <a:solidFill>
              <a:srgbClr val="CFCF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0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426464"/>
            <a:ext cx="7772400" cy="3778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3716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87774"/>
                </a:solidFill>
                <a:latin typeface="Inter"/>
              </a:rPr>
              <a:t>ACTIONS ON THIS SCREEN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737360"/>
            <a:ext cx="3200400" cy="18288"/>
          </a:xfrm>
          <a:prstGeom prst="rect">
            <a:avLst/>
          </a:prstGeom>
          <a:solidFill>
            <a:srgbClr val="F1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3920" y="194767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05088" y="187452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Django 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5088" y="2130552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Standard sessions. Works with your existing auth backend, SSO, OIDC, etc.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0" y="286207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05088" y="278892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Three demo accounts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5088" y="3044952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admin (staff) sees everything; alice and bob each see only their own.</a:t>
            </a:r>
          </a:p>
        </p:txBody>
      </p:sp>
      <p:sp>
        <p:nvSpPr>
          <p:cNvPr id="15" name="Oval 14"/>
          <p:cNvSpPr/>
          <p:nvPr/>
        </p:nvSpPr>
        <p:spPr>
          <a:xfrm>
            <a:off x="8503920" y="377647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05088" y="370332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Locked routes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3959352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Queue, detail, create, CSV, REST API — all require login.</a:t>
            </a:r>
          </a:p>
        </p:txBody>
      </p:sp>
      <p:sp>
        <p:nvSpPr>
          <p:cNvPr id="18" name="Oval 17"/>
          <p:cNvSpPr/>
          <p:nvPr/>
        </p:nvSpPr>
        <p:spPr>
          <a:xfrm>
            <a:off x="8503920" y="450799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05088" y="443484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Logout link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4690872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Sidebar 'Sign out' once authenticated.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91919"/>
                </a:solidFill>
                <a:latin typeface="Inter"/>
              </a:rPr>
              <a:t>Admin queue — sees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774"/>
                </a:solidFill>
                <a:latin typeface="Inter"/>
              </a:rPr>
              <a:t>Staff users see all tickets, plus an Owner column showing who owns each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882128" cy="4967478"/>
          </a:xfrm>
          <a:prstGeom prst="rect">
            <a:avLst/>
          </a:prstGeom>
          <a:noFill/>
          <a:ln w="9525">
            <a:solidFill>
              <a:srgbClr val="CFCF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1_admin_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426464"/>
            <a:ext cx="7772400" cy="4857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3716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87774"/>
                </a:solidFill>
                <a:latin typeface="Inter"/>
              </a:rPr>
              <a:t>ACTIONS ON THIS SCREEN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737360"/>
            <a:ext cx="3200400" cy="18288"/>
          </a:xfrm>
          <a:prstGeom prst="rect">
            <a:avLst/>
          </a:prstGeom>
          <a:solidFill>
            <a:srgbClr val="F1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3920" y="194767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05088" y="187452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Owner column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5088" y="2130552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Only admins see who owns each ticket — alice, bob, or unowned.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0" y="267919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05088" y="260604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Admin badge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5088" y="2862072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Header pill 'admin view — all users' makes the elevated scope obvious.</a:t>
            </a:r>
          </a:p>
        </p:txBody>
      </p:sp>
      <p:sp>
        <p:nvSpPr>
          <p:cNvPr id="15" name="Oval 14"/>
          <p:cNvSpPr/>
          <p:nvPr/>
        </p:nvSpPr>
        <p:spPr>
          <a:xfrm>
            <a:off x="8503920" y="359359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05088" y="352044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Sidebar identity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3776472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Username + red 'admin · all tickets' pill replaces 'your tickets only'.</a:t>
            </a:r>
          </a:p>
        </p:txBody>
      </p:sp>
      <p:sp>
        <p:nvSpPr>
          <p:cNvPr id="18" name="Oval 17"/>
          <p:cNvSpPr/>
          <p:nvPr/>
        </p:nvSpPr>
        <p:spPr>
          <a:xfrm>
            <a:off x="8503920" y="450799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05088" y="443484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Counts span everyone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4690872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'10 total / 10 open / 3 critical' = the whole organization.</a:t>
            </a:r>
          </a:p>
        </p:txBody>
      </p:sp>
      <p:sp>
        <p:nvSpPr>
          <p:cNvPr id="21" name="Oval 20"/>
          <p:cNvSpPr/>
          <p:nvPr/>
        </p:nvSpPr>
        <p:spPr>
          <a:xfrm>
            <a:off x="8503920" y="523951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05088" y="516636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Same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5422392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No separate admin app — staff see the same screen with extra columns.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91919"/>
                </a:solidFill>
                <a:latin typeface="Inter"/>
              </a:rPr>
              <a:t>User queue — own tickets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774"/>
                </a:solidFill>
                <a:latin typeface="Inter"/>
              </a:rPr>
              <a:t>Same / signed in as alice. Zero leakage from bob or unowned tickets.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882128" cy="4967478"/>
          </a:xfrm>
          <a:prstGeom prst="rect">
            <a:avLst/>
          </a:prstGeom>
          <a:noFill/>
          <a:ln w="9525">
            <a:solidFill>
              <a:srgbClr val="CFCF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2_alice_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426464"/>
            <a:ext cx="7772400" cy="4857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3716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87774"/>
                </a:solidFill>
                <a:latin typeface="Inter"/>
              </a:rPr>
              <a:t>ACTIONS ON THIS SCREEN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737360"/>
            <a:ext cx="3200400" cy="18288"/>
          </a:xfrm>
          <a:prstGeom prst="rect">
            <a:avLst/>
          </a:prstGeom>
          <a:solidFill>
            <a:srgbClr val="F1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3920" y="194767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05088" y="187452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Scoped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5088" y="2130552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filter_for_user(qs, request.user) at the queryset level — applied in views AND API.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0" y="286207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05088" y="278892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No owner column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5088" y="3044952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Owner column is hidden when not admin (no point showing 'alice' on every row).</a:t>
            </a:r>
          </a:p>
        </p:txBody>
      </p:sp>
      <p:sp>
        <p:nvSpPr>
          <p:cNvPr id="15" name="Oval 14"/>
          <p:cNvSpPr/>
          <p:nvPr/>
        </p:nvSpPr>
        <p:spPr>
          <a:xfrm>
            <a:off x="8503920" y="377647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05088" y="370332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Different 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3959352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'7 total' for alice vs '10 total' for admin on the same dataset.</a:t>
            </a:r>
          </a:p>
        </p:txBody>
      </p:sp>
      <p:sp>
        <p:nvSpPr>
          <p:cNvPr id="18" name="Oval 17"/>
          <p:cNvSpPr/>
          <p:nvPr/>
        </p:nvSpPr>
        <p:spPr>
          <a:xfrm>
            <a:off x="8503920" y="450799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05088" y="443484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Detail page guards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4690872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Visiting another user's /t/&lt;id&gt;/ returns 404. Same for HTMX endpoints.</a:t>
            </a:r>
          </a:p>
        </p:txBody>
      </p:sp>
      <p:sp>
        <p:nvSpPr>
          <p:cNvPr id="21" name="Oval 20"/>
          <p:cNvSpPr/>
          <p:nvPr/>
        </p:nvSpPr>
        <p:spPr>
          <a:xfrm>
            <a:off x="8503920" y="542239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05088" y="534924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REST API enforces too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5605272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get_queryset() uses the same helper; can't bypass via JSON.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Inter"/>
              </a:rPr>
              <a:t>How the agents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787774"/>
                </a:solidFill>
                <a:latin typeface="Inter"/>
              </a:rPr>
              <a:t>Three specialized agents in a ReAct loop, with real tool use, automatic handoff.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657600" cy="3108960"/>
          </a:xfrm>
          <a:prstGeom prst="rect">
            <a:avLst/>
          </a:prstGeom>
          <a:solidFill>
            <a:srgbClr val="F7F6F3"/>
          </a:solidFill>
          <a:ln w="9525">
            <a:solidFill>
              <a:srgbClr val="F1F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0574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Inter"/>
              </a:rPr>
              <a:t>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10312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  <a:latin typeface="Inter"/>
              </a:rPr>
              <a:t>Triage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Inter"/>
              </a:rPr>
              <a:t>Initial assessment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Inter"/>
              </a:rPr>
              <a:t>+ severity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87774"/>
                </a:solidFill>
                <a:latin typeface="Inter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5760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JetBrains Mono"/>
              </a:rPr>
              <a:t>• search_similar_tickets</a:t>
            </a:r>
          </a:p>
          <a:p>
            <a:pPr algn="l"/>
            <a:r>
              <a:rPr sz="1100" b="0">
                <a:solidFill>
                  <a:srgbClr val="444444"/>
                </a:solidFill>
                <a:latin typeface="JetBrains Mono"/>
              </a:rPr>
              <a:t>• check_recent_deployments</a:t>
            </a:r>
          </a:p>
          <a:p>
            <a:pPr algn="l"/>
            <a:r>
              <a:rPr sz="1100" b="0">
                <a:solidFill>
                  <a:srgbClr val="444444"/>
                </a:solidFill>
                <a:latin typeface="JetBrains Mono"/>
              </a:rPr>
              <a:t>• query_metrics</a:t>
            </a:r>
          </a:p>
          <a:p>
            <a:pPr algn="l"/>
            <a:r>
              <a:rPr sz="1100" b="0">
                <a:solidFill>
                  <a:srgbClr val="444444"/>
                </a:solidFill>
                <a:latin typeface="JetBrains Mono"/>
              </a:rPr>
              <a:t>• check_partner_status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828800"/>
            <a:ext cx="3657600" cy="3108960"/>
          </a:xfrm>
          <a:prstGeom prst="rect">
            <a:avLst/>
          </a:prstGeom>
          <a:solidFill>
            <a:srgbClr val="F7F6F3"/>
          </a:solidFill>
          <a:ln w="9525">
            <a:solidFill>
              <a:srgbClr val="F1F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63440" y="20574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Inter"/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10312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  <a:latin typeface="Inter"/>
              </a:rPr>
              <a:t>Investigator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974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Inter"/>
              </a:rPr>
              <a:t>Deep technical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Inter"/>
              </a:rPr>
              <a:t>investigation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383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87774"/>
                </a:solidFill>
                <a:latin typeface="Inter"/>
              </a:rPr>
              <a:t>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65760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JetBrains Mono"/>
              </a:rPr>
              <a:t>• query_metrics</a:t>
            </a:r>
          </a:p>
          <a:p>
            <a:pPr algn="l"/>
            <a:r>
              <a:rPr sz="1100" b="0">
                <a:solidFill>
                  <a:srgbClr val="444444"/>
                </a:solidFill>
                <a:latin typeface="JetBrains Mono"/>
              </a:rPr>
              <a:t>• check_recent_deployments</a:t>
            </a:r>
          </a:p>
          <a:p>
            <a:pPr algn="l"/>
            <a:r>
              <a:rPr sz="1100" b="0">
                <a:solidFill>
                  <a:srgbClr val="444444"/>
                </a:solidFill>
                <a:latin typeface="JetBrains Mono"/>
              </a:rPr>
              <a:t>• search_similar_tickets</a:t>
            </a:r>
          </a:p>
          <a:p>
            <a:pPr algn="l"/>
            <a:r>
              <a:rPr sz="1100" b="0">
                <a:solidFill>
                  <a:srgbClr val="444444"/>
                </a:solidFill>
                <a:latin typeface="JetBrains Mono"/>
              </a:rPr>
              <a:t>• check_partner_status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828800"/>
            <a:ext cx="3657600" cy="3108960"/>
          </a:xfrm>
          <a:prstGeom prst="rect">
            <a:avLst/>
          </a:prstGeom>
          <a:solidFill>
            <a:srgbClr val="F7F6F3"/>
          </a:solidFill>
          <a:ln w="9525">
            <a:solidFill>
              <a:srgbClr val="F1F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58200" y="20574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Inter"/>
              </a:rPr>
              <a:t>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10312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  <a:latin typeface="Inter"/>
              </a:rPr>
              <a:t>Resolver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6974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Inter"/>
              </a:rPr>
              <a:t>Communicate +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Inter"/>
              </a:rPr>
              <a:t>remediation prep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383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87774"/>
                </a:solidFill>
                <a:latin typeface="Inter"/>
              </a:rPr>
              <a:t>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65760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JetBrains Mono"/>
              </a:rPr>
              <a:t>• post_to_slack</a:t>
            </a:r>
          </a:p>
          <a:p>
            <a:pPr algn="l"/>
            <a:r>
              <a:rPr sz="1100" b="0">
                <a:solidFill>
                  <a:srgbClr val="444444"/>
                </a:solidFill>
                <a:latin typeface="JetBrains Mono"/>
              </a:rPr>
              <a:t>• request_info_from_user</a:t>
            </a:r>
          </a:p>
          <a:p>
            <a:pPr algn="l"/>
            <a:r>
              <a:rPr sz="1100" b="0">
                <a:solidFill>
                  <a:srgbClr val="444444"/>
                </a:solidFill>
                <a:latin typeface="JetBrains Mono"/>
              </a:rPr>
              <a:t>• update_ticket_field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303520"/>
            <a:ext cx="10972800" cy="118872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4406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FCFCD"/>
                </a:solidFill>
                <a:latin typeface="Inter"/>
              </a:rPr>
              <a:t>HANDOFF LOGIC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71500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Inter"/>
              </a:rPr>
              <a:t>On any new ticket, Triage runs first. If it recommends sev1/sev2 → Investigator joins.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Inter"/>
              </a:rPr>
              <a:t>Resolver always runs last to communicate + propose remediation. All visible in the agent timeline.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91919"/>
                </a:solidFill>
                <a:latin typeface="Inter"/>
              </a:rPr>
              <a:t>Agent activity — org-wide feed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774"/>
                </a:solidFill>
                <a:latin typeface="Inter"/>
              </a:rPr>
              <a:t>/agents/  — every autonomous run across every ticket. Newest 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882128" cy="4967478"/>
          </a:xfrm>
          <a:prstGeom prst="rect">
            <a:avLst/>
          </a:prstGeom>
          <a:noFill/>
          <a:ln w="9525">
            <a:solidFill>
              <a:srgbClr val="CFCF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0_agents_in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426464"/>
            <a:ext cx="7772400" cy="4857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3716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87774"/>
                </a:solidFill>
                <a:latin typeface="Inter"/>
              </a:rPr>
              <a:t>ACTIONS ON THIS SCREEN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737360"/>
            <a:ext cx="3200400" cy="18288"/>
          </a:xfrm>
          <a:prstGeom prst="rect">
            <a:avLst/>
          </a:prstGeom>
          <a:solidFill>
            <a:srgbClr val="F1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3920" y="194767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05088" y="187452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Multi-agent runs visible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5088" y="2130552"/>
            <a:ext cx="299923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Each line = one agent run. Triage, Investigator, and Resolver appear together for the same ticket.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0" y="304495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05088" y="297180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Severity 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5088" y="3227832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Right-side pills show what the agent recommended (SEV1, SEV2, etc.).</a:t>
            </a:r>
          </a:p>
        </p:txBody>
      </p:sp>
      <p:sp>
        <p:nvSpPr>
          <p:cNvPr id="15" name="Oval 14"/>
          <p:cNvSpPr/>
          <p:nvPr/>
        </p:nvSpPr>
        <p:spPr>
          <a:xfrm>
            <a:off x="8503920" y="395935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05088" y="388620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Trigger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4142232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'demo_seed', 'handoff_from_triage', 'auto_on_create' — tracks WHY each agent ran.</a:t>
            </a:r>
          </a:p>
        </p:txBody>
      </p:sp>
      <p:sp>
        <p:nvSpPr>
          <p:cNvPr id="18" name="Oval 17"/>
          <p:cNvSpPr/>
          <p:nvPr/>
        </p:nvSpPr>
        <p:spPr>
          <a:xfrm>
            <a:off x="8503920" y="487375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05088" y="480060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Step counts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5056632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Number of ReAct steps the agent took before reaching a conclusion.</a:t>
            </a:r>
          </a:p>
        </p:txBody>
      </p:sp>
      <p:sp>
        <p:nvSpPr>
          <p:cNvPr id="21" name="Oval 20"/>
          <p:cNvSpPr/>
          <p:nvPr/>
        </p:nvSpPr>
        <p:spPr>
          <a:xfrm>
            <a:off x="8503920" y="578815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05088" y="571500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Scoped by 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5971032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Admin sees all; users see only runs on their own tickets.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91919"/>
                </a:solidFill>
                <a:latin typeface="Inter"/>
              </a:rPr>
              <a:t>Per-ticket agent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774"/>
                </a:solidFill>
                <a:latin typeface="Inter"/>
              </a:rPr>
              <a:t>/t/&lt;id&gt;/  — every agent that touched this ticket, with thought + tool calls + recommendations.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882128" cy="4967478"/>
          </a:xfrm>
          <a:prstGeom prst="rect">
            <a:avLst/>
          </a:prstGeom>
          <a:noFill/>
          <a:ln w="9525">
            <a:solidFill>
              <a:srgbClr val="CFCF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1_detail_with_ag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426464"/>
            <a:ext cx="7772400" cy="4857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3716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87774"/>
                </a:solidFill>
                <a:latin typeface="Inter"/>
              </a:rPr>
              <a:t>ACTIONS ON THIS SCREEN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737360"/>
            <a:ext cx="3200400" cy="18288"/>
          </a:xfrm>
          <a:prstGeom prst="rect">
            <a:avLst/>
          </a:prstGeom>
          <a:solidFill>
            <a:srgbClr val="F1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3920" y="194767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05088" y="187452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Multi-agent timeline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5088" y="2130552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Triage → Investigator → Resolver, each with its own step list.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0" y="267919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05088" y="260604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Visible reasoning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5088" y="2862072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Click any step to see the AI's thought, the tool arguments, and the observation.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8503920" y="359359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05088" y="352044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⚡ Run full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3776472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Manually trigger the pipeline. Useful for re-running after the ticket changes.</a:t>
            </a:r>
          </a:p>
        </p:txBody>
      </p:sp>
      <p:sp>
        <p:nvSpPr>
          <p:cNvPr id="18" name="Oval 17"/>
          <p:cNvSpPr/>
          <p:nvPr/>
        </p:nvSpPr>
        <p:spPr>
          <a:xfrm>
            <a:off x="8503920" y="450799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05088" y="443484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Recommendations per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4690872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Each agent contributes specific next-actions to the human reviewer.</a:t>
            </a:r>
          </a:p>
        </p:txBody>
      </p:sp>
      <p:sp>
        <p:nvSpPr>
          <p:cNvPr id="21" name="Oval 20"/>
          <p:cNvSpPr/>
          <p:nvPr/>
        </p:nvSpPr>
        <p:spPr>
          <a:xfrm>
            <a:off x="8503920" y="542239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05088" y="534924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Severity flag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5605272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When agents disagree with the reporter's severity, a recommendation pill appears.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91919"/>
                </a:solidFill>
                <a:latin typeface="Inter"/>
              </a:rPr>
              <a:t>Visible reasoning — every step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774"/>
                </a:solidFill>
                <a:latin typeface="Inter"/>
              </a:rPr>
              <a:t>Each step shows the agent's thought, tool name + arguments, and the observation it got back.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6153762" cy="5230368"/>
          </a:xfrm>
          <a:prstGeom prst="rect">
            <a:avLst/>
          </a:prstGeom>
          <a:noFill/>
          <a:ln w="9525">
            <a:solidFill>
              <a:srgbClr val="CFCF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3_agent_timeline_expa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426464"/>
            <a:ext cx="6044034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3716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87774"/>
                </a:solidFill>
                <a:latin typeface="Inter"/>
              </a:rPr>
              <a:t>ACTIONS ON THIS SCREEN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737360"/>
            <a:ext cx="3200400" cy="18288"/>
          </a:xfrm>
          <a:prstGeom prst="rect">
            <a:avLst/>
          </a:prstGeom>
          <a:solidFill>
            <a:srgbClr val="F1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3920" y="194767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05088" y="187452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Thought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5088" y="2130552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Why the agent chose this tool. 1-2 sentences in plain English.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0" y="267919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05088" y="260604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Tool + args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5088" y="2862072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Exact tool call: query_metrics(service='api-gateway', metric='error_rate', window_minutes=60)</a:t>
            </a:r>
          </a:p>
        </p:txBody>
      </p:sp>
      <p:sp>
        <p:nvSpPr>
          <p:cNvPr id="15" name="Oval 14"/>
          <p:cNvSpPr/>
          <p:nvPr/>
        </p:nvSpPr>
        <p:spPr>
          <a:xfrm>
            <a:off x="8503920" y="359359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05088" y="352044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Observation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3776472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What the tool returned. Real data: error_rate 7.40%, trend rising, anomalous=True.</a:t>
            </a:r>
          </a:p>
        </p:txBody>
      </p:sp>
      <p:sp>
        <p:nvSpPr>
          <p:cNvPr id="18" name="Oval 17"/>
          <p:cNvSpPr/>
          <p:nvPr/>
        </p:nvSpPr>
        <p:spPr>
          <a:xfrm>
            <a:off x="8503920" y="450799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05088" y="443484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ReAct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4690872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Thought → Action → Observation → repeat. Agent stops when it calls finish().</a:t>
            </a:r>
          </a:p>
        </p:txBody>
      </p:sp>
      <p:sp>
        <p:nvSpPr>
          <p:cNvPr id="21" name="Oval 20"/>
          <p:cNvSpPr/>
          <p:nvPr/>
        </p:nvSpPr>
        <p:spPr>
          <a:xfrm>
            <a:off x="8503920" y="542239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05088" y="534924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Auditable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5605272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Every step persisted in the database. Replayable. Explainable. No black box.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91919"/>
                </a:solidFill>
                <a:latin typeface="Inter"/>
              </a:rPr>
              <a:t>Ticket detail — 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774"/>
                </a:solidFill>
                <a:latin typeface="Inter"/>
              </a:rPr>
              <a:t>/t/&lt;id&gt;/  — KPI strip, original vs AI-enhanced, status controls.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871540" cy="5230368"/>
          </a:xfrm>
          <a:prstGeom prst="rect">
            <a:avLst/>
          </a:prstGeom>
          <a:noFill/>
          <a:ln w="9525">
            <a:solidFill>
              <a:srgbClr val="CFCF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detail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426464"/>
            <a:ext cx="7761812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3716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87774"/>
                </a:solidFill>
                <a:latin typeface="Inter"/>
              </a:rPr>
              <a:t>ACTIONS ON THIS SCREEN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737360"/>
            <a:ext cx="3200400" cy="18288"/>
          </a:xfrm>
          <a:prstGeom prst="rect">
            <a:avLst/>
          </a:prstGeom>
          <a:solidFill>
            <a:srgbClr val="F1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3920" y="194767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05088" y="187452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KPI strip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5088" y="2130552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Age, idle time, SLA breach probability, operational priority.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0" y="267919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05088" y="260604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⚡ Re-run all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5088" y="2862072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Regenerates enhancement, plan, and missing-info in one click.</a:t>
            </a:r>
          </a:p>
        </p:txBody>
      </p:sp>
      <p:sp>
        <p:nvSpPr>
          <p:cNvPr id="15" name="Oval 14"/>
          <p:cNvSpPr/>
          <p:nvPr/>
        </p:nvSpPr>
        <p:spPr>
          <a:xfrm>
            <a:off x="8503920" y="341071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05088" y="333756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Change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3593592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Inline dropdown updates via HTMX, no page reload.</a:t>
            </a:r>
          </a:p>
        </p:txBody>
      </p:sp>
      <p:sp>
        <p:nvSpPr>
          <p:cNvPr id="18" name="Oval 17"/>
          <p:cNvSpPr/>
          <p:nvPr/>
        </p:nvSpPr>
        <p:spPr>
          <a:xfrm>
            <a:off x="8503920" y="414223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05088" y="406908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Side-by-side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4325112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Original report on left, AI-rewritten structured analysis on right.</a:t>
            </a:r>
          </a:p>
        </p:txBody>
      </p:sp>
      <p:sp>
        <p:nvSpPr>
          <p:cNvPr id="21" name="Oval 20"/>
          <p:cNvSpPr/>
          <p:nvPr/>
        </p:nvSpPr>
        <p:spPr>
          <a:xfrm>
            <a:off x="8503920" y="505663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05088" y="498348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Severity suggestion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5239512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If AI disagrees with reporter's severity, a yellow banner suggests the new 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91919"/>
                </a:solidFill>
                <a:latin typeface="Inter"/>
              </a:rPr>
              <a:t>Ticket detail —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774"/>
                </a:solidFill>
                <a:latin typeface="Inter"/>
              </a:rPr>
              <a:t>Scroll down on the same page to see the AI's plan and information gaps.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738523" cy="5230368"/>
          </a:xfrm>
          <a:prstGeom prst="rect">
            <a:avLst/>
          </a:prstGeom>
          <a:noFill/>
          <a:ln w="9525">
            <a:solidFill>
              <a:srgbClr val="CFCF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c_detail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426464"/>
            <a:ext cx="5628795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3716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87774"/>
                </a:solidFill>
                <a:latin typeface="Inter"/>
              </a:rPr>
              <a:t>ACTIONS ON THIS SCREEN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737360"/>
            <a:ext cx="3200400" cy="18288"/>
          </a:xfrm>
          <a:prstGeom prst="rect">
            <a:avLst/>
          </a:prstGeom>
          <a:solidFill>
            <a:srgbClr val="F1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3920" y="194767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05088" y="187452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Numbered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5088" y="2130552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3–8 ordered steps. Each has priority, effort estimate, risk level.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0" y="286207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05088" y="278892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Success 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5088" y="3044952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Every step says what 'done' looks like — checkable.</a:t>
            </a:r>
          </a:p>
        </p:txBody>
      </p:sp>
      <p:sp>
        <p:nvSpPr>
          <p:cNvPr id="15" name="Oval 14"/>
          <p:cNvSpPr/>
          <p:nvPr/>
        </p:nvSpPr>
        <p:spPr>
          <a:xfrm>
            <a:off x="8503920" y="359359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05088" y="352044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Owner suggestion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3776472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AI suggests the team / role for each step.</a:t>
            </a:r>
          </a:p>
        </p:txBody>
      </p:sp>
      <p:sp>
        <p:nvSpPr>
          <p:cNvPr id="18" name="Oval 17"/>
          <p:cNvSpPr/>
          <p:nvPr/>
        </p:nvSpPr>
        <p:spPr>
          <a:xfrm>
            <a:off x="8503920" y="432511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05088" y="425196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Dependencies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4507992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Action 4 'depends on' action 2 — chain is explicit.</a:t>
            </a:r>
          </a:p>
        </p:txBody>
      </p:sp>
      <p:sp>
        <p:nvSpPr>
          <p:cNvPr id="21" name="Oval 20"/>
          <p:cNvSpPr/>
          <p:nvPr/>
        </p:nvSpPr>
        <p:spPr>
          <a:xfrm>
            <a:off x="8503920" y="505663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05088" y="498348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Escalation banner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5239512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AI flags when to escalate (e.g. error rate &gt; 5% after 15 min).</a:t>
            </a:r>
          </a:p>
        </p:txBody>
      </p:sp>
      <p:sp>
        <p:nvSpPr>
          <p:cNvPr id="24" name="Oval 23"/>
          <p:cNvSpPr/>
          <p:nvPr/>
        </p:nvSpPr>
        <p:spPr>
          <a:xfrm>
            <a:off x="8503920" y="578815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05088" y="571500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Missing info checklist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8" y="5971032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Follow-up questions + investigation checklist.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91919"/>
                </a:solidFill>
                <a:latin typeface="Inter"/>
              </a:rPr>
              <a:t>Create ticket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774"/>
                </a:solidFill>
                <a:latin typeface="Inter"/>
              </a:rPr>
              <a:t>/new/  — Notion-style writing UI. Title and description are the focus; metadata is secondary.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882128" cy="3887978"/>
          </a:xfrm>
          <a:prstGeom prst="rect">
            <a:avLst/>
          </a:prstGeom>
          <a:noFill/>
          <a:ln w="9525">
            <a:solidFill>
              <a:srgbClr val="CFCF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create_fi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426464"/>
            <a:ext cx="7772400" cy="3778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3716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87774"/>
                </a:solidFill>
                <a:latin typeface="Inter"/>
              </a:rPr>
              <a:t>ACTIONS ON THIS SCREEN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737360"/>
            <a:ext cx="3200400" cy="18288"/>
          </a:xfrm>
          <a:prstGeom prst="rect">
            <a:avLst/>
          </a:prstGeom>
          <a:solidFill>
            <a:srgbClr val="F1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3920" y="194767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05088" y="187452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Minimal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5088" y="2130552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Title and description take 90% of the canvas. Metadata is small.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0" y="267919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05088" y="260604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Severity / team / assignee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5088" y="2862072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Inline pills, not a heavy form. Use defaults if you don't care.</a:t>
            </a:r>
          </a:p>
        </p:txBody>
      </p:sp>
      <p:sp>
        <p:nvSpPr>
          <p:cNvPr id="15" name="Oval 14"/>
          <p:cNvSpPr/>
          <p:nvPr/>
        </p:nvSpPr>
        <p:spPr>
          <a:xfrm>
            <a:off x="8503920" y="341071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05088" y="333756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Run AI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3593592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Checkbox: when ticked, the full AI pipeline runs on save.</a:t>
            </a:r>
          </a:p>
        </p:txBody>
      </p:sp>
      <p:sp>
        <p:nvSpPr>
          <p:cNvPr id="18" name="Oval 17"/>
          <p:cNvSpPr/>
          <p:nvPr/>
        </p:nvSpPr>
        <p:spPr>
          <a:xfrm>
            <a:off x="8503920" y="414223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05088" y="406908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Create ticket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4325112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Saves and redirects straight to the detail view.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91919"/>
                </a:solidFill>
                <a:latin typeface="Inter"/>
              </a:rPr>
              <a:t>Bulk import (CSV)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774"/>
                </a:solidFill>
                <a:latin typeface="Inter"/>
              </a:rPr>
              <a:t>/upload/  — One-shot import of many tickets, with optional AI analysis on each.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882128" cy="3348228"/>
          </a:xfrm>
          <a:prstGeom prst="rect">
            <a:avLst/>
          </a:prstGeom>
          <a:noFill/>
          <a:ln w="9525">
            <a:solidFill>
              <a:srgbClr val="CFCF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csv_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426464"/>
            <a:ext cx="7772400" cy="3238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3716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87774"/>
                </a:solidFill>
                <a:latin typeface="Inter"/>
              </a:rPr>
              <a:t>ACTIONS ON THIS SCREEN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737360"/>
            <a:ext cx="3200400" cy="18288"/>
          </a:xfrm>
          <a:prstGeom prst="rect">
            <a:avLst/>
          </a:prstGeom>
          <a:solidFill>
            <a:srgbClr val="F1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3920" y="194767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05088" y="187452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CSV file picker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5088" y="2130552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Headers expected: source_id, title, description, status, severity, assignee, team, tags.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0" y="286207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05088" y="278892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Run AI on import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5088" y="3044952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Checkbox runs enhancement + plan + missing-info on every new ticket.</a:t>
            </a:r>
          </a:p>
        </p:txBody>
      </p:sp>
      <p:sp>
        <p:nvSpPr>
          <p:cNvPr id="15" name="Oval 14"/>
          <p:cNvSpPr/>
          <p:nvPr/>
        </p:nvSpPr>
        <p:spPr>
          <a:xfrm>
            <a:off x="8503920" y="377647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05088" y="370332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Idempotent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3959352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Re-uploading the same file updates existing tickets in place (by source_id).</a:t>
            </a:r>
          </a:p>
        </p:txBody>
      </p:sp>
      <p:sp>
        <p:nvSpPr>
          <p:cNvPr id="18" name="Oval 17"/>
          <p:cNvSpPr/>
          <p:nvPr/>
        </p:nvSpPr>
        <p:spPr>
          <a:xfrm>
            <a:off x="8503920" y="469087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05088" y="461772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Import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4873752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Returns to queue with a flash message: 'Imported N new, updated M.'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91919"/>
                </a:solidFill>
                <a:latin typeface="Inter"/>
              </a:rPr>
              <a:t>Filtered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774"/>
                </a:solidFill>
                <a:latin typeface="Inter"/>
              </a:rPr>
              <a:t>/?sev=sev1  — Same queue, scoped by severity. Filters live in the URL.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882128" cy="3348228"/>
          </a:xfrm>
          <a:prstGeom prst="rect">
            <a:avLst/>
          </a:prstGeom>
          <a:noFill/>
          <a:ln w="9525">
            <a:solidFill>
              <a:srgbClr val="CFCF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_queue_filt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426464"/>
            <a:ext cx="7772400" cy="3238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3716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87774"/>
                </a:solidFill>
                <a:latin typeface="Inter"/>
              </a:rPr>
              <a:t>ACTIONS ON THIS SCREEN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737360"/>
            <a:ext cx="3200400" cy="18288"/>
          </a:xfrm>
          <a:prstGeom prst="rect">
            <a:avLst/>
          </a:prstGeom>
          <a:solidFill>
            <a:srgbClr val="F1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3920" y="194767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05088" y="187452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URL-based filters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5088" y="2130552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Shareable links: send a teammate /?sev=sev1&amp;team=Payments.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0" y="267919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05088" y="260604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Cursor pagination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5088" y="2862072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Page size in AEGIS['TICKET_LIST_PAGE_SIZE'], cursor-based for scale.</a:t>
            </a:r>
          </a:p>
        </p:txBody>
      </p:sp>
      <p:sp>
        <p:nvSpPr>
          <p:cNvPr id="15" name="Oval 14"/>
          <p:cNvSpPr/>
          <p:nvPr/>
        </p:nvSpPr>
        <p:spPr>
          <a:xfrm>
            <a:off x="8503920" y="359359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05088" y="352044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Live 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3776472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Header shows total / open / critical for the current filter.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91919"/>
                </a:solidFill>
                <a:latin typeface="Inter"/>
              </a:rPr>
              <a:t>Django admin — tickets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774"/>
                </a:solidFill>
                <a:latin typeface="Inter"/>
              </a:rPr>
              <a:t>/admin/aegis/ticket/  — Full Django admin for the data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882128" cy="4967478"/>
          </a:xfrm>
          <a:prstGeom prst="rect">
            <a:avLst/>
          </a:prstGeom>
          <a:noFill/>
          <a:ln w="9525">
            <a:solidFill>
              <a:srgbClr val="CFCF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7_admin_tick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426464"/>
            <a:ext cx="7772400" cy="4857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3716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87774"/>
                </a:solidFill>
                <a:latin typeface="Inter"/>
              </a:rPr>
              <a:t>ACTIONS ON THIS SCREEN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737360"/>
            <a:ext cx="3200400" cy="18288"/>
          </a:xfrm>
          <a:prstGeom prst="rect">
            <a:avLst/>
          </a:prstGeom>
          <a:solidFill>
            <a:srgbClr val="F1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3920" y="194767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05088" y="187452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Standard Django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5088" y="2130552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Tickets, history, AI artifacts, agent runs, sync cursors — all editable.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0" y="286207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05088" y="278892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Filters /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5088" y="3044952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By source, status, severity, team. Search title and description.</a:t>
            </a:r>
          </a:p>
        </p:txBody>
      </p:sp>
      <p:sp>
        <p:nvSpPr>
          <p:cNvPr id="15" name="Oval 14"/>
          <p:cNvSpPr/>
          <p:nvPr/>
        </p:nvSpPr>
        <p:spPr>
          <a:xfrm>
            <a:off x="8503920" y="359359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05088" y="352044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Date hierarchy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3776472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Drill in by year / month / day to debug bursts.</a:t>
            </a:r>
          </a:p>
        </p:txBody>
      </p:sp>
      <p:sp>
        <p:nvSpPr>
          <p:cNvPr id="18" name="Oval 17"/>
          <p:cNvSpPr/>
          <p:nvPr/>
        </p:nvSpPr>
        <p:spPr>
          <a:xfrm>
            <a:off x="8503920" y="432511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05088" y="425196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Bulk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4507992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Built-in Django admin actions, e.g. mark resolved.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91919"/>
                </a:solidFill>
                <a:latin typeface="Inter"/>
              </a:rPr>
              <a:t>Django admin — AI 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787774"/>
                </a:solidFill>
                <a:latin typeface="Inter"/>
              </a:rPr>
              <a:t>/admin/aegis/aiartifact/  — Cost transparency: every Gemini call persisted with tokens, latency, cost.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882128" cy="4967478"/>
          </a:xfrm>
          <a:prstGeom prst="rect">
            <a:avLst/>
          </a:prstGeom>
          <a:noFill/>
          <a:ln w="9525">
            <a:solidFill>
              <a:srgbClr val="CFCF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8_admin_artif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426464"/>
            <a:ext cx="7772400" cy="4857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3716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87774"/>
                </a:solidFill>
                <a:latin typeface="Inter"/>
              </a:rPr>
              <a:t>ACTIONS ON THIS SCREEN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737360"/>
            <a:ext cx="3200400" cy="18288"/>
          </a:xfrm>
          <a:prstGeom prst="rect">
            <a:avLst/>
          </a:prstGeom>
          <a:solidFill>
            <a:srgbClr val="F1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3920" y="194767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05088" y="187452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Per-call ledger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5088" y="2130552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Every enhance / plan / missing-info call is a row here.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0" y="267919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05088" y="260604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Model +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5088" y="2862072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Track which Gemini model + prompt version produced what.</a:t>
            </a:r>
          </a:p>
        </p:txBody>
      </p:sp>
      <p:sp>
        <p:nvSpPr>
          <p:cNvPr id="15" name="Oval 14"/>
          <p:cNvSpPr/>
          <p:nvPr/>
        </p:nvSpPr>
        <p:spPr>
          <a:xfrm>
            <a:off x="8503920" y="341071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05088" y="333756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Token + cost columns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3593592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Sum these for per-day / per-team / per-ticket spend.</a:t>
            </a:r>
          </a:p>
        </p:txBody>
      </p:sp>
      <p:sp>
        <p:nvSpPr>
          <p:cNvPr id="18" name="Oval 17"/>
          <p:cNvSpPr/>
          <p:nvPr/>
        </p:nvSpPr>
        <p:spPr>
          <a:xfrm>
            <a:off x="8503920" y="414223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05088" y="406908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Confidence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4325112"/>
            <a:ext cx="299923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Filter low-confidence runs to find prompts that need work.</a:t>
            </a:r>
          </a:p>
        </p:txBody>
      </p:sp>
      <p:sp>
        <p:nvSpPr>
          <p:cNvPr id="21" name="Oval 20"/>
          <p:cNvSpPr/>
          <p:nvPr/>
        </p:nvSpPr>
        <p:spPr>
          <a:xfrm>
            <a:off x="8503920" y="4873752"/>
            <a:ext cx="91440" cy="91440"/>
          </a:xfrm>
          <a:prstGeom prst="ellipse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05088" y="4800600"/>
            <a:ext cx="29992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91919"/>
                </a:solidFill>
                <a:latin typeface="Inter"/>
              </a:rPr>
              <a:t>Mock vs real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5056632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Inter"/>
              </a:rPr>
              <a:t>Mock model = 'gemini-2.5-pro-mock', zero cost. Visible at a glance.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Inter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787774"/>
                </a:solidFill>
                <a:latin typeface="Inter"/>
              </a:rPr>
              <a:t>Bounded contexts. Pluggable connectors. AI under a single facade.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1280160"/>
          </a:xfrm>
          <a:prstGeom prst="rect">
            <a:avLst/>
          </a:prstGeom>
          <a:solidFill>
            <a:srgbClr val="F1F1EF"/>
          </a:solidFill>
          <a:ln w="9525">
            <a:solidFill>
              <a:srgbClr val="F1F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  <a:latin typeface="Inter"/>
              </a:rPr>
              <a:t>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011680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Inter"/>
              </a:rPr>
              <a:t>•  Connectors (ABC) — jira, csv, manual, +your own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Inter"/>
              </a:rPr>
              <a:t>•  Incremental sync via cursor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Inter"/>
              </a:rPr>
              <a:t>•  REST API + webhooks + management commands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solidFill>
            <a:srgbClr val="F7F6F3"/>
          </a:solidFill>
          <a:ln w="9525">
            <a:solidFill>
              <a:srgbClr val="F1F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5643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  <a:latin typeface="Inter"/>
              </a:rPr>
              <a:t>AI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474720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Inter"/>
              </a:rPr>
              <a:t>•  Gemini client with structured outputs (pydantic)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Inter"/>
              </a:rPr>
              <a:t>•  MockGeminiClient — content-aware, schema-valid, $0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Inter"/>
              </a:rPr>
              <a:t>•  Per-artifact cost / tokens / latency persisted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754880"/>
            <a:ext cx="10972800" cy="1280160"/>
          </a:xfrm>
          <a:prstGeom prst="rect">
            <a:avLst/>
          </a:prstGeom>
          <a:solidFill>
            <a:srgbClr val="F1F1EF"/>
          </a:solidFill>
          <a:ln w="9525">
            <a:solidFill>
              <a:srgbClr val="F1F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91947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91919"/>
                </a:solidFill>
                <a:latin typeface="Inter"/>
              </a:rPr>
              <a:t>Core +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4937760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Inter"/>
              </a:rPr>
              <a:t>•  Ticket, History, AIArtifact, AgentRun, SyncCursor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Inter"/>
              </a:rPr>
              <a:t>•  HTMX-driven Notion-style UI (no SPA needed)</a:t>
            </a:r>
          </a:p>
          <a:p>
            <a:pPr algn="l"/>
            <a:r>
              <a:rPr sz="1200" b="0">
                <a:solidFill>
                  <a:srgbClr val="444444"/>
                </a:solidFill>
                <a:latin typeface="Inter"/>
              </a:rPr>
              <a:t>•  DRF REST API + admin + signals + Celery hooks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Inter"/>
              </a:rPr>
              <a:t>Live demo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787774"/>
                </a:solidFill>
                <a:latin typeface="Inter"/>
              </a:rPr>
              <a:t>Six steps, ~3 minutes. Works without an API key.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640080" cy="64008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4767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74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91919"/>
                </a:solidFill>
                <a:latin typeface="Inter"/>
              </a:rPr>
              <a:t>Sign in as alice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762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JetBrains Mono"/>
              </a:rPr>
              <a:t>alice / demo — show 'your tickets only' badge, 7 tickets visible.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640080" cy="64008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2491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51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91919"/>
                </a:solidFill>
                <a:latin typeface="Inter"/>
              </a:rPr>
              <a:t>Open a Sev 1 ticket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95351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JetBrains Mono"/>
              </a:rPr>
              <a:t>Show enhanced description, AI action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83280"/>
            <a:ext cx="640080" cy="64008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0215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429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91919"/>
                </a:solidFill>
                <a:latin typeface="Inter"/>
              </a:rPr>
              <a:t>Scroll to agent timeline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7307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JetBrains Mono"/>
              </a:rPr>
              <a:t>Triage → Investigator → Resolver. Each with thought + tool calls visible.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160520"/>
            <a:ext cx="640080" cy="64008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793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Inter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206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91919"/>
                </a:solidFill>
                <a:latin typeface="Inter"/>
              </a:rPr>
              <a:t>Expand a 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5079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JetBrains Mono"/>
              </a:rPr>
              <a:t>Show actual tool args and observation — 'query_metrics returned error_rate 7.4%'.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937760"/>
            <a:ext cx="640080" cy="64008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05663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Inter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983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91919"/>
                </a:solidFill>
                <a:latin typeface="Inter"/>
              </a:rPr>
              <a:t>Open /agents/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2852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JetBrains Mono"/>
              </a:rPr>
              <a:t>Org-wide agent activity feed — every autonomous run across the org.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715000"/>
            <a:ext cx="640080" cy="64008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83387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Inter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91919"/>
                </a:solidFill>
                <a:latin typeface="Inter"/>
              </a:rPr>
              <a:t>Switch to admin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60624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JetBrains Mono"/>
              </a:rPr>
              <a:t>admin / admin → see all 10 tickets + all agent runs from all users.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91919"/>
                </a:solidFill>
                <a:latin typeface="Inter"/>
              </a:rPr>
              <a:t>Drop it into your existing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787774"/>
                </a:solidFill>
                <a:latin typeface="Inter"/>
              </a:rPr>
              <a:t>Five lines. Five minutes.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0515600" cy="3383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00">
                <a:solidFill>
                  <a:srgbClr val="787774"/>
                </a:solidFill>
                <a:latin typeface="JetBrains Mono"/>
              </a:rPr>
              <a:t># 1. install</a:t>
            </a:r>
          </a:p>
          <a:p>
            <a:r>
              <a:rPr sz="1300">
                <a:solidFill>
                  <a:srgbClr val="FFFFFF"/>
                </a:solidFill>
                <a:latin typeface="JetBrains Mono"/>
              </a:rPr>
              <a:t>pip install -e ./aegis-pkg</a:t>
            </a:r>
          </a:p>
          <a:p>
            <a:r>
              <a:rPr sz="1300">
                <a:solidFill>
                  <a:srgbClr val="FFFFFF"/>
                </a:solidFill>
                <a:latin typeface="JetBrains Mono"/>
              </a:rPr>
              <a:t/>
            </a:r>
          </a:p>
          <a:p>
            <a:r>
              <a:rPr sz="1300">
                <a:solidFill>
                  <a:srgbClr val="787774"/>
                </a:solidFill>
                <a:latin typeface="JetBrains Mono"/>
              </a:rPr>
              <a:t># 2. settings.py</a:t>
            </a:r>
          </a:p>
          <a:p>
            <a:r>
              <a:rPr sz="1300">
                <a:solidFill>
                  <a:srgbClr val="FFFFFF"/>
                </a:solidFill>
                <a:latin typeface="JetBrains Mono"/>
              </a:rPr>
              <a:t>INSTALLED_APPS += ["rest_framework", "aegis"]</a:t>
            </a:r>
          </a:p>
          <a:p>
            <a:r>
              <a:rPr sz="1300">
                <a:solidFill>
                  <a:srgbClr val="FFFFFF"/>
                </a:solidFill>
                <a:latin typeface="JetBrains Mono"/>
              </a:rPr>
              <a:t>AEGIS = {</a:t>
            </a:r>
          </a:p>
          <a:p>
            <a:r>
              <a:rPr sz="1300">
                <a:solidFill>
                  <a:srgbClr val="FFFFFF"/>
                </a:solidFill>
                <a:latin typeface="JetBrains Mono"/>
              </a:rPr>
              <a:t>    "GEMINI_API_KEY": os.environ.get("GEMINI_API_KEY", ""),</a:t>
            </a:r>
          </a:p>
          <a:p>
            <a:r>
              <a:rPr sz="1300">
                <a:solidFill>
                  <a:srgbClr val="FFFFFF"/>
                </a:solidFill>
                <a:latin typeface="JetBrains Mono"/>
              </a:rPr>
              <a:t>    # leave empty → uses deterministic MockGeminiClient</a:t>
            </a:r>
          </a:p>
          <a:p>
            <a:r>
              <a:rPr sz="1300">
                <a:solidFill>
                  <a:srgbClr val="FFFFFF"/>
                </a:solidFill>
                <a:latin typeface="JetBrains Mono"/>
              </a:rPr>
              <a:t>}</a:t>
            </a:r>
          </a:p>
          <a:p>
            <a:r>
              <a:rPr sz="1300">
                <a:solidFill>
                  <a:srgbClr val="FFFFFF"/>
                </a:solidFill>
                <a:latin typeface="JetBrains Mono"/>
              </a:rPr>
              <a:t/>
            </a:r>
          </a:p>
          <a:p>
            <a:r>
              <a:rPr sz="1300">
                <a:solidFill>
                  <a:srgbClr val="787774"/>
                </a:solidFill>
                <a:latin typeface="JetBrains Mono"/>
              </a:rPr>
              <a:t># 3. urls.py</a:t>
            </a:r>
          </a:p>
          <a:p>
            <a:r>
              <a:rPr sz="1300">
                <a:solidFill>
                  <a:srgbClr val="FFFFFF"/>
                </a:solidFill>
                <a:latin typeface="JetBrains Mono"/>
              </a:rPr>
              <a:t>urlpatterns += [</a:t>
            </a:r>
          </a:p>
          <a:p>
            <a:r>
              <a:rPr sz="1300">
                <a:solidFill>
                  <a:srgbClr val="FFFFFF"/>
                </a:solidFill>
                <a:latin typeface="JetBrains Mono"/>
              </a:rPr>
              <a:t>    path("ops/", include("aegis.urls")),    # UI at /ops/, API at /ops/api/</a:t>
            </a:r>
          </a:p>
          <a:p>
            <a:r>
              <a:rPr sz="1300">
                <a:solidFill>
                  <a:srgbClr val="FFFFFF"/>
                </a:solidFill>
                <a:latin typeface="JetBrains Mono"/>
              </a:rPr>
              <a:t>]</a:t>
            </a:r>
          </a:p>
          <a:p>
            <a:r>
              <a:rPr sz="1300">
                <a:solidFill>
                  <a:srgbClr val="FFFFFF"/>
                </a:solidFill>
                <a:latin typeface="JetBrains Mono"/>
              </a:rPr>
              <a:t/>
            </a:r>
          </a:p>
          <a:p>
            <a:r>
              <a:rPr sz="1300">
                <a:solidFill>
                  <a:srgbClr val="787774"/>
                </a:solidFill>
                <a:latin typeface="JetBrains Mono"/>
              </a:rPr>
              <a:t># 4. migrate</a:t>
            </a:r>
          </a:p>
          <a:p>
            <a:r>
              <a:rPr sz="1300">
                <a:solidFill>
                  <a:srgbClr val="FFFFFF"/>
                </a:solidFill>
                <a:latin typeface="JetBrains Mono"/>
              </a:rPr>
              <a:t>python manage.py migrate aegis</a:t>
            </a:r>
          </a:p>
          <a:p>
            <a:r>
              <a:rPr sz="1300">
                <a:solidFill>
                  <a:srgbClr val="FFFFFF"/>
                </a:solidFill>
                <a:latin typeface="JetBrains Mono"/>
              </a:rPr>
              <a:t/>
            </a:r>
          </a:p>
          <a:p>
            <a:r>
              <a:rPr sz="1300">
                <a:solidFill>
                  <a:srgbClr val="787774"/>
                </a:solidFill>
                <a:latin typeface="JetBrains Mono"/>
              </a:rPr>
              <a:t># 5. done. Open /ops/ in your browser.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787774"/>
                </a:solidFill>
                <a:latin typeface="Inter"/>
              </a:rPr>
              <a:t>Default permissions = AllowAny (demo). Add IsAuthenticated in your project's REST_FRAMEWORK settings for prod.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nter"/>
              </a:rPr>
              <a:t>Where it stands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26517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Inter"/>
              </a:rPr>
              <a:t>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FCFCD"/>
                </a:solidFill>
                <a:latin typeface="Inter"/>
              </a:rPr>
              <a:t>tests passing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1828800"/>
            <a:ext cx="26517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329184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FCFCD"/>
                </a:solidFill>
                <a:latin typeface="Inter"/>
              </a:rPr>
              <a:t>specialized agents</a:t>
            </a:r>
          </a:p>
          <a:p>
            <a:pPr algn="l"/>
            <a:r>
              <a:rPr sz="1400" b="0">
                <a:solidFill>
                  <a:srgbClr val="CFCFCD"/>
                </a:solidFill>
                <a:latin typeface="Inter"/>
              </a:rPr>
              <a:t>(Triage, Investigator, Resolver)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26517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Inter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29184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FCFCD"/>
                </a:solidFill>
                <a:latin typeface="Inter"/>
              </a:rPr>
              <a:t>agent tools</a:t>
            </a:r>
          </a:p>
          <a:p>
            <a:pPr algn="l"/>
            <a:r>
              <a:rPr sz="1400" b="0">
                <a:solidFill>
                  <a:srgbClr val="CFCFCD"/>
                </a:solidFill>
                <a:latin typeface="Inter"/>
              </a:rPr>
              <a:t>(metrics, deploys, Slack, …)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1828800"/>
            <a:ext cx="26517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Inter"/>
              </a:rPr>
              <a:t>$0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329184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FCFCD"/>
                </a:solidFill>
                <a:latin typeface="Inter"/>
              </a:rPr>
              <a:t>cost to run the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Inter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Inter"/>
              </a:rPr>
              <a:t>→  Real Gemini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75488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FCFCD"/>
                </a:solidFill>
                <a:latin typeface="Inter"/>
              </a:rPr>
              <a:t>Set GEMINI_API_KEY → real model, same code path.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66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Inter"/>
              </a:rPr>
              <a:t>→  Async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516636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FCFCD"/>
                </a:solidFill>
                <a:latin typeface="Inter"/>
              </a:rPr>
              <a:t>Flip AEGIS["USE_CELERY"] = True for background workers.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778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Inter"/>
              </a:rPr>
              <a:t>→  More connectors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5778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FCFCD"/>
                </a:solidFill>
                <a:latin typeface="Inter"/>
              </a:rPr>
              <a:t>Implement Connector ABC for Zendesk / Freshdesk / ServiceNow.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787774"/>
                </a:solidFill>
                <a:latin typeface="Inter"/>
              </a:rPr>
              <a:t>Aegis — built today, demo-ready tomorrow.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