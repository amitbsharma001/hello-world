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6400800" cy="6400800"/>
          </a:xfrm>
          <a:prstGeom prst="ellipse">
            <a:avLst/>
          </a:prstGeom>
          <a:solidFill>
            <a:srgbClr val="6AA9FF">
              <a:alpha val="12000"/>
            </a:srgbClr>
          </a:solidFill>
          <a:ln w="12700">
            <a:solidFill>
              <a:srgbClr val="6AA9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29600" y="3657600"/>
            <a:ext cx="5486400" cy="5486400"/>
          </a:xfrm>
          <a:prstGeom prst="ellipse">
            <a:avLst/>
          </a:prstGeom>
          <a:solidFill>
            <a:srgbClr val="C084FC">
              <a:alpha val="8000"/>
            </a:srgbClr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18872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0" b="1" dirty="0">
                <a:solidFill>
                  <a:srgbClr val="6AA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</a:t>
            </a:r>
            <a:endParaRPr lang="en-US" sz="11000" dirty="0"/>
          </a:p>
        </p:txBody>
      </p:sp>
      <p:sp>
        <p:nvSpPr>
          <p:cNvPr id="5" name="Text 3"/>
          <p:cNvSpPr/>
          <p:nvPr/>
        </p:nvSpPr>
        <p:spPr>
          <a:xfrm>
            <a:off x="548640" y="2560320"/>
            <a:ext cx="10058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b="1" dirty="0">
                <a:solidFill>
                  <a:srgbClr val="E6E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Flowforge</a:t>
            </a:r>
            <a:endParaRPr lang="en-US" sz="8800" dirty="0"/>
          </a:p>
        </p:txBody>
      </p:sp>
      <p:sp>
        <p:nvSpPr>
          <p:cNvPr id="6" name="Text 4"/>
          <p:cNvSpPr/>
          <p:nvPr/>
        </p:nvSpPr>
        <p:spPr>
          <a:xfrm>
            <a:off x="548640" y="38404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6AA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Power Automate clone in Django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48640" y="44805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7A85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engine • REST API • Webhook + scheduled triggers • 28 built-in connectors • Encrypted credentials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548640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6AA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548640" y="61722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spc="200" kern="0" dirty="0">
                <a:solidFill>
                  <a:srgbClr val="7A85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337560" y="548640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6AA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2.7k</a:t>
            </a:r>
            <a:endParaRPr lang="en-US" sz="4200" dirty="0"/>
          </a:p>
        </p:txBody>
      </p:sp>
      <p:sp>
        <p:nvSpPr>
          <p:cNvPr id="11" name="Text 9"/>
          <p:cNvSpPr/>
          <p:nvPr/>
        </p:nvSpPr>
        <p:spPr>
          <a:xfrm>
            <a:off x="3337560" y="61722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spc="200" kern="0" dirty="0">
                <a:solidFill>
                  <a:srgbClr val="7A85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126480" y="548640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6AA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4200" dirty="0"/>
          </a:p>
        </p:txBody>
      </p:sp>
      <p:sp>
        <p:nvSpPr>
          <p:cNvPr id="13" name="Text 11"/>
          <p:cNvSpPr/>
          <p:nvPr/>
        </p:nvSpPr>
        <p:spPr>
          <a:xfrm>
            <a:off x="6126480" y="61722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spc="200" kern="0" dirty="0">
                <a:solidFill>
                  <a:srgbClr val="7A85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types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915400" y="548640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6AA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4200" dirty="0"/>
          </a:p>
        </p:txBody>
      </p:sp>
      <p:sp>
        <p:nvSpPr>
          <p:cNvPr id="15" name="Text 13"/>
          <p:cNvSpPr/>
          <p:nvPr/>
        </p:nvSpPr>
        <p:spPr>
          <a:xfrm>
            <a:off x="8915400" y="61722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spc="200" kern="0" dirty="0">
                <a:solidFill>
                  <a:srgbClr val="7A85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connectors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A85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Flowforge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7772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6AA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105156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6E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automations the way Power Automate does — in your stack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02920" y="2103120"/>
            <a:ext cx="5486400" cy="4023360"/>
          </a:xfrm>
          <a:prstGeom prst="rect">
            <a:avLst/>
          </a:prstGeom>
          <a:solidFill>
            <a:srgbClr val="161A23"/>
          </a:solidFill>
          <a:ln w="9525">
            <a:solidFill>
              <a:srgbClr val="23283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22860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AA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77240" y="269748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6E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workflows as JSON: triggers + ordered step tree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6E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call connectors (HTTP, email, Outlook, Slack…) or run logic (condition, loop, parallel, try/catch)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6E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trigger types: manual button or API, cron schedule, public webhook with token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6E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step records inputs, outputs, errors, timing — full audit trail per run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6E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Expression language: </a:t>
            </a:r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{{ steps.fetch.output.body.price }}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63640" y="2103120"/>
            <a:ext cx="5486400" cy="4023360"/>
          </a:xfrm>
          <a:prstGeom prst="rect">
            <a:avLst/>
          </a:prstGeom>
          <a:solidFill>
            <a:srgbClr val="161A23"/>
          </a:solidFill>
          <a:ln w="9525">
            <a:solidFill>
              <a:srgbClr val="23283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37960" y="22860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AA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537960" y="274320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Django 5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778240" y="2743200"/>
            <a:ext cx="2880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Models, admin, DRF API, templates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537960" y="324612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Celery + Redis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778240" y="3246120"/>
            <a:ext cx="2880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execution, beat scheduling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537960" y="374904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django-celery-beat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778240" y="3749040"/>
            <a:ext cx="2880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Cron → PeriodicTask sync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537960" y="425196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cryptography.Fernet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778240" y="4251960"/>
            <a:ext cx="2880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Encrypted Connection credentials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537960" y="475488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Microsoft Graph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778240" y="4754880"/>
            <a:ext cx="2880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Outlook send / list / get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537960" y="525780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AST sandbox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778240" y="5257800"/>
            <a:ext cx="2880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expression evaluation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0292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5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Flowforge — Django + Celery workflow engine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000232" y="64922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5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13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A85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Flowforge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7772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6AA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· FLOW LIST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105156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6E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your flows at a glance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0" y="1920240"/>
            <a:ext cx="7360920" cy="4709160"/>
          </a:xfrm>
          <a:prstGeom prst="rect">
            <a:avLst/>
          </a:prstGeom>
          <a:solidFill>
            <a:srgbClr val="161A23"/>
          </a:solidFill>
          <a:ln w="9525">
            <a:solidFill>
              <a:srgbClr val="232838"/>
            </a:solidFill>
            <a:prstDash val="solid"/>
          </a:ln>
        </p:spPr>
      </p:sp>
      <p:pic>
        <p:nvPicPr>
          <p:cNvPr id="6" name="Image 0" descr="/home/claude/shots/01-flow-list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663440" y="2011680"/>
            <a:ext cx="7178040" cy="45262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205740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6AA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toggle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02920" y="2377440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6E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Quickly enable / disable a flow without deleting it. Inactive flows ignore both manual triggers and scheduled runs.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502920" y="342900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6AA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column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502920" y="3749040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6E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Cron expression visible inline. A signal keeps a django-celery-beat PeriodicTask in sync whenever the value changes.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502920" y="480060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6AA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One-click trigger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502920" y="5120640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6E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a flow against the Celery worker pool. Manual triggers from the UI, the REST API, and webhooks all hit the same executor.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50292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5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Flowforge — Django + Celery workflow engine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1000232" y="64922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5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A85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Flowforge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7772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6AA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· FLOW DETAIL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105156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6E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Webhook triggers with rotatable tokens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0" y="1920240"/>
            <a:ext cx="7360920" cy="4709160"/>
          </a:xfrm>
          <a:prstGeom prst="rect">
            <a:avLst/>
          </a:prstGeom>
          <a:solidFill>
            <a:srgbClr val="161A23"/>
          </a:solidFill>
          <a:ln w="9525">
            <a:solidFill>
              <a:srgbClr val="232838"/>
            </a:solidFill>
            <a:prstDash val="solid"/>
          </a:ln>
        </p:spPr>
      </p:sp>
      <p:pic>
        <p:nvPicPr>
          <p:cNvPr id="6" name="Image 0" descr="/home/claude/shots/03-flow-detail-webhook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663440" y="2011680"/>
            <a:ext cx="7178040" cy="45262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205740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6AA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URL per flow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02920" y="2377440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6E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 the Webhook box and the flow gets a public endpoint at /webhooks/&lt;token&gt;/.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502920" y="342900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6AA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Rotate when needed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502920" y="3749040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6E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Compromised tokens are one click away from being replaced. Old token stops working immediately.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502920" y="480060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6AA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 + headers + query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502920" y="5120640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6E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are exposed to expressions: {{ trigger.body.x }}, {{ trigger.headers["X-Hub"] }}, {{ trigger.query.foo }}.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50292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5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Flowforge — Django + Celery workflow engine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1000232" y="64922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5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A85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Flowforge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7772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6AA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· RUN DETAIL (PARALLEL EXECUTION)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105156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6E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Per-step trace with full audit history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0" y="1920240"/>
            <a:ext cx="7360920" cy="4709160"/>
          </a:xfrm>
          <a:prstGeom prst="rect">
            <a:avLst/>
          </a:prstGeom>
          <a:solidFill>
            <a:srgbClr val="161A23"/>
          </a:solidFill>
          <a:ln w="9525">
            <a:solidFill>
              <a:srgbClr val="232838"/>
            </a:solidFill>
            <a:prstDash val="solid"/>
          </a:ln>
        </p:spPr>
      </p:sp>
      <p:pic>
        <p:nvPicPr>
          <p:cNvPr id="6" name="Image 0" descr="/home/claude/shots/07-run-detail-parallel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663440" y="2011680"/>
            <a:ext cx="7178040" cy="45262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205740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6AA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step recorded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02920" y="2377440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6E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id, type, status, inputs, output, timing — persisted to StepRun. No mysteries when something goes wrong.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502920" y="342900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6AA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fanout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502920" y="3749040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6E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#1 is the fanout, steps #2–#4 are the three branches that ran concurrently in a ThreadPoolExecutor.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502920" y="480060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6AA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Compose step closes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502920" y="5120640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6E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#5 reads outputs from all three branches via the shared context — wall time ≈ 0.02s, not 3 × single-branch time.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50292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5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Flowforge — Django + Celery workflow engine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1000232" y="64922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5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13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A85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Flowforge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7772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6AA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· PYTHON.EXEC CONNECTOR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105156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6E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Drop-in Python for one-off transforms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0" y="1920240"/>
            <a:ext cx="7360920" cy="4709160"/>
          </a:xfrm>
          <a:prstGeom prst="rect">
            <a:avLst/>
          </a:prstGeom>
          <a:solidFill>
            <a:srgbClr val="161A23"/>
          </a:solidFill>
          <a:ln w="9525">
            <a:solidFill>
              <a:srgbClr val="232838"/>
            </a:solidFill>
            <a:prstDash val="solid"/>
          </a:ln>
        </p:spPr>
      </p:sp>
      <p:pic>
        <p:nvPicPr>
          <p:cNvPr id="6" name="Image 0" descr="/home/claude/shots/06-run-detail-python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663440" y="2011680"/>
            <a:ext cx="7178040" cy="45262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205740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6AA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Sandboxed Python in a step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02920" y="2377440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6E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real Python — math, statistics, datetime, json all available. Set result = … to return.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502920" y="342900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6AA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Restricted globals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502920" y="3749040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6E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os, __import__, open are all blocked. Toggle off entirely via FLOWFORGE_ALLOW_PYTHON_EXEC.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502920" y="480060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6AA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example output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502920" y="5120640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6E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Computed {mean: 100.67, stdev: 2.6657, volatility: 0.0476} from a NIFTY price series in ~10ms.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50292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5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Flowforge — Django + Celery workflow engine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1000232" y="64922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5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13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A85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Flowforge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7772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6AA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· RUN DETAIL (ERROR HANDLING)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105156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6E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try / catch / finally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0" y="1920240"/>
            <a:ext cx="7360920" cy="4709160"/>
          </a:xfrm>
          <a:prstGeom prst="rect">
            <a:avLst/>
          </a:prstGeom>
          <a:solidFill>
            <a:srgbClr val="161A23"/>
          </a:solidFill>
          <a:ln w="9525">
            <a:solidFill>
              <a:srgbClr val="232838"/>
            </a:solidFill>
            <a:prstDash val="solid"/>
          </a:ln>
        </p:spPr>
      </p:sp>
      <p:pic>
        <p:nvPicPr>
          <p:cNvPr id="6" name="Image 0" descr="/home/claude/shots/08-run-detail-trycatch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663440" y="2011680"/>
            <a:ext cx="7178040" cy="45262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205740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6AA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block runs first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02920" y="2377440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6E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inside try execute in order until one raises. Subsequent try-steps are skipped.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502920" y="342900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6AA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 sees the error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502920" y="3749040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6E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 error.type }}, {{ error.message }}, {{ error.step_id }} bound inside the catch branch.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502920" y="480060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6AA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Finally always runs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502920" y="5120640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6E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Cleanup, logging, metric emission — guaranteed regardless of which path executed.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50292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5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Flowforge — Django + Celery workflow engine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1000232" y="64922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5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13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A85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Flowforge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7772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6AA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· FLOW EDITOR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105156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6E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JSON-first authoring (visual builder is next)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0" y="1920240"/>
            <a:ext cx="7360920" cy="4709160"/>
          </a:xfrm>
          <a:prstGeom prst="rect">
            <a:avLst/>
          </a:prstGeom>
          <a:solidFill>
            <a:srgbClr val="161A23"/>
          </a:solidFill>
          <a:ln w="9525">
            <a:solidFill>
              <a:srgbClr val="232838"/>
            </a:solidFill>
            <a:prstDash val="solid"/>
          </a:ln>
        </p:spPr>
      </p:sp>
      <p:pic>
        <p:nvPicPr>
          <p:cNvPr id="6" name="Image 0" descr="/home/claude/shots/04-flow-edit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663440" y="2011680"/>
            <a:ext cx="7178040" cy="45262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205740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6AA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+ Active + Webhook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02920" y="2377440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6E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switches govern when and how a flow can fire. Cron is validated by croniter before save.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502920" y="342900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6AA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JSON definition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502920" y="3749040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6E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Until a DAG editor lands, the textarea is the canvas. Parsed and validated on submit; syntax errors are surfaced inline.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502920" y="480060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6AA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502920" y="5120640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6E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react-flow or litegraph drop in cleanly — the JSON schema is already DAG-friendly.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50292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5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Flowforge — Django + Celery workflow engine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1000232" y="64922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5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13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A85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Flowforge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7772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6AA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· VISUAL BUILDER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105156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6E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Drag-and-drop flow builder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0" y="1920240"/>
            <a:ext cx="7360920" cy="4709160"/>
          </a:xfrm>
          <a:prstGeom prst="rect">
            <a:avLst/>
          </a:prstGeom>
          <a:solidFill>
            <a:srgbClr val="161A23"/>
          </a:solidFill>
          <a:ln w="9525">
            <a:solidFill>
              <a:srgbClr val="232838"/>
            </a:solidFill>
            <a:prstDash val="solid"/>
          </a:ln>
        </p:spPr>
      </p:sp>
      <p:pic>
        <p:nvPicPr>
          <p:cNvPr id="6" name="Image 0" descr="/home/claude/shots/builder-01-httpbin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663440" y="2011680"/>
            <a:ext cx="7178040" cy="45262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205740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6AA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Palette · canvas · inspector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02920" y="2377440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6E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Three-column layout. Drag step templates from the left onto any drop-zone in the canvas; configure the selected step on the right.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502920" y="342900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6AA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Nested containers render inline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502920" y="3749040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6E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 steps show THEN / ELSE branches; parallel steps show one column per branch; try shows TRY / CATCH / FINALLY.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502920" y="480060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6AA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Saves through the same REST API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502920" y="5120640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6E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Cmd-S or Save button writes back to PUT /api/flows/&lt;id&gt;/. Status pill in the header tracks dirty / saved state.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50292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5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Flowforge — Django + Celery workflow engine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1000232" y="64922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5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13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A85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Flowforge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7772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6AA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· VISUAL BUILDER (INSPECTOR)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105156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6E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Inspector reflects whatever step is selected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0" y="1920240"/>
            <a:ext cx="7360920" cy="4709160"/>
          </a:xfrm>
          <a:prstGeom prst="rect">
            <a:avLst/>
          </a:prstGeom>
          <a:solidFill>
            <a:srgbClr val="161A23"/>
          </a:solidFill>
          <a:ln w="9525">
            <a:solidFill>
              <a:srgbClr val="232838"/>
            </a:solidFill>
            <a:prstDash val="solid"/>
          </a:ln>
        </p:spPr>
      </p:sp>
      <p:pic>
        <p:nvPicPr>
          <p:cNvPr id="6" name="Image 0" descr="/home/claude/shots/builder-05-inspector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663440" y="2011680"/>
            <a:ext cx="7178040" cy="45262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205740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6AA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Per-type form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02920" y="2377440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6E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gets connector + inputs JSON + retry policy. Condition gets the expression. Parallel gets Add branch. Each step type gets the fields it actually needs.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502920" y="342900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6AA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fields validate inline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502920" y="3749040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6E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into the Inputs textarea, commit on blur. Invalid JSON is flagged in place; structural changes (id, connector) live-update the canvas.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502920" y="480060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6AA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source of truth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502920" y="5120640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6E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builder edits the same definition the executor reads. "Show JSON" opens a dialog to paste a full definition back if you'd rather hand-edit.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50292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5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Flowforge — Django + Celery workflow engine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1000232" y="64922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5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13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A85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Flowforge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7772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6AA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CONNECTORS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105156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6E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Twenty-eight connectors built in, registry is open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02920" y="1783080"/>
            <a:ext cx="11201400" cy="4572000"/>
          </a:xfrm>
          <a:prstGeom prst="rect">
            <a:avLst/>
          </a:prstGeom>
          <a:solidFill>
            <a:srgbClr val="161A23"/>
          </a:solidFill>
          <a:ln w="9525">
            <a:solidFill>
              <a:srgbClr val="23283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96596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7A85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971800" y="19659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7A85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CONNECTOR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806440" y="1965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7A85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77240" y="2331720"/>
            <a:ext cx="10652760" cy="0"/>
          </a:xfrm>
          <a:prstGeom prst="line">
            <a:avLst/>
          </a:prstGeom>
          <a:noFill/>
          <a:ln w="9525">
            <a:solidFill>
              <a:srgbClr val="23283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2423160"/>
            <a:ext cx="2103120" cy="1417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&amp; messaging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2971800" y="2423160"/>
            <a:ext cx="2743200" cy="1417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6E8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http.request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806440" y="2423160"/>
            <a:ext cx="5669280" cy="1417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85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HTTP — basic/bearer/header auth, form bodies, multipart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971800" y="2564892"/>
            <a:ext cx="2743200" cy="1417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6E8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request.send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806440" y="2564892"/>
            <a:ext cx="5669280" cy="1417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85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Alias of http.request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971800" y="2706624"/>
            <a:ext cx="2743200" cy="1417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6E8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slack.webhook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806440" y="2706624"/>
            <a:ext cx="5669280" cy="1417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85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to a Slack Incoming Webhook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971800" y="2848356"/>
            <a:ext cx="2743200" cy="1417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6E8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email.send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806440" y="2848356"/>
            <a:ext cx="5669280" cy="1417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85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via Django's email backend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777240" y="2990088"/>
            <a:ext cx="2103120" cy="1417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08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365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971800" y="2990088"/>
            <a:ext cx="2743200" cy="1417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6E8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outlook.send_mail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806440" y="2990088"/>
            <a:ext cx="5669280" cy="1417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85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via Graph (client credentials or pre-acquired token)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777240" y="3131820"/>
            <a:ext cx="2103120" cy="1417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08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(shared token cache)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2971800" y="3131820"/>
            <a:ext cx="2743200" cy="1417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6E8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outlook.list_messages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806440" y="3131820"/>
            <a:ext cx="5669280" cy="1417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85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inbox / folder with $filter / $search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2971800" y="3273552"/>
            <a:ext cx="2743200" cy="1417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6E8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outlook.get_message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806440" y="3273552"/>
            <a:ext cx="5669280" cy="1417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85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a single message by id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2971800" y="3415284"/>
            <a:ext cx="2743200" cy="1417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6E8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teams.webhook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806440" y="3415284"/>
            <a:ext cx="5669280" cy="1417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85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a MessageCard to a Teams webhook URL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2971800" y="3557016"/>
            <a:ext cx="2743200" cy="1417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6E8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teams.send_channel_message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806440" y="3557016"/>
            <a:ext cx="5669280" cy="1417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85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to a Teams channel via Graph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2971800" y="3698748"/>
            <a:ext cx="2743200" cy="1417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6E8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sharepoint.upload_file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806440" y="3698748"/>
            <a:ext cx="5669280" cy="1417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85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to SharePoint / OneDrive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2971800" y="3840480"/>
            <a:ext cx="2743200" cy="1417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6E8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sharepoint.download_file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806440" y="3840480"/>
            <a:ext cx="5669280" cy="1417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85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a file's contents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2971800" y="3982212"/>
            <a:ext cx="2743200" cy="1417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6E8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sharepoint.list_items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806440" y="3982212"/>
            <a:ext cx="5669280" cy="1417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85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children of a folder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777240" y="4123944"/>
            <a:ext cx="2103120" cy="1417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2971800" y="4123944"/>
            <a:ext cx="2743200" cy="1417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6E8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db.query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806440" y="4123944"/>
            <a:ext cx="5669280" cy="1417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85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via Django connections (parameterised)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2971800" y="4265676"/>
            <a:ext cx="2743200" cy="1417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6E8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db.execute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806440" y="4265676"/>
            <a:ext cx="5669280" cy="1417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85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/ UPDATE / DELETE in a transaction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777240" y="4407408"/>
            <a:ext cx="2103120" cy="1417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AA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storage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2971800" y="4407408"/>
            <a:ext cx="2743200" cy="1417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6E8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s3.upload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806440" y="4407408"/>
            <a:ext cx="5669280" cy="1417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85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to S3 / MinIO / R2 / B2 (boto3)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2971800" y="4549140"/>
            <a:ext cx="2743200" cy="1417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6E8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s3.download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5806440" y="4549140"/>
            <a:ext cx="5669280" cy="1417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85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as text or base64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2971800" y="4690872"/>
            <a:ext cx="2743200" cy="1417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6E8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s3.list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5806440" y="4690872"/>
            <a:ext cx="5669280" cy="1417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85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objects under a prefix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2971800" y="4832604"/>
            <a:ext cx="2743200" cy="1417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6E8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s3.delete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5806440" y="4832604"/>
            <a:ext cx="5669280" cy="1417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85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an object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777240" y="4974336"/>
            <a:ext cx="2103120" cy="1417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&amp; data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2971800" y="4974336"/>
            <a:ext cx="2743200" cy="1417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6E8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python.exec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5806440" y="4974336"/>
            <a:ext cx="5669280" cy="1417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85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Restricted Python sandbox (set result = …)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2971800" y="5116068"/>
            <a:ext cx="2743200" cy="1417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6E8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csv.parse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5806440" y="5116068"/>
            <a:ext cx="5669280" cy="1417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85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 CSV text into rows (header-aware)</a:t>
            </a:r>
            <a:endParaRPr lang="en-US" sz="950" dirty="0"/>
          </a:p>
        </p:txBody>
      </p:sp>
      <p:sp>
        <p:nvSpPr>
          <p:cNvPr id="56" name="Text 54"/>
          <p:cNvSpPr/>
          <p:nvPr/>
        </p:nvSpPr>
        <p:spPr>
          <a:xfrm>
            <a:off x="2971800" y="5257800"/>
            <a:ext cx="2743200" cy="1417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6E8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csv.stringify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5806440" y="5257800"/>
            <a:ext cx="5669280" cy="1417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85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Serialise rows back to a CSV string</a:t>
            </a:r>
            <a:endParaRPr lang="en-US" sz="950" dirty="0"/>
          </a:p>
        </p:txBody>
      </p:sp>
      <p:sp>
        <p:nvSpPr>
          <p:cNvPr id="58" name="Text 56"/>
          <p:cNvSpPr/>
          <p:nvPr/>
        </p:nvSpPr>
        <p:spPr>
          <a:xfrm>
            <a:off x="2971800" y="5399532"/>
            <a:ext cx="2743200" cy="1417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6E8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json.parse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5806440" y="5399532"/>
            <a:ext cx="5669280" cy="1417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85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 JSON</a:t>
            </a:r>
            <a:endParaRPr lang="en-US" sz="950" dirty="0"/>
          </a:p>
        </p:txBody>
      </p:sp>
      <p:sp>
        <p:nvSpPr>
          <p:cNvPr id="60" name="Text 58"/>
          <p:cNvSpPr/>
          <p:nvPr/>
        </p:nvSpPr>
        <p:spPr>
          <a:xfrm>
            <a:off x="2971800" y="5541264"/>
            <a:ext cx="2743200" cy="1417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6E8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json.stringify</a:t>
            </a:r>
            <a:endParaRPr lang="en-US" sz="1000" dirty="0"/>
          </a:p>
        </p:txBody>
      </p:sp>
      <p:sp>
        <p:nvSpPr>
          <p:cNvPr id="61" name="Text 59"/>
          <p:cNvSpPr/>
          <p:nvPr/>
        </p:nvSpPr>
        <p:spPr>
          <a:xfrm>
            <a:off x="5806440" y="5541264"/>
            <a:ext cx="5669280" cy="1417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85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Serialise any value to JSON</a:t>
            </a:r>
            <a:endParaRPr lang="en-US" sz="950" dirty="0"/>
          </a:p>
        </p:txBody>
      </p:sp>
      <p:sp>
        <p:nvSpPr>
          <p:cNvPr id="62" name="Text 60"/>
          <p:cNvSpPr/>
          <p:nvPr/>
        </p:nvSpPr>
        <p:spPr>
          <a:xfrm>
            <a:off x="2971800" y="5682996"/>
            <a:ext cx="2743200" cy="1417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6E8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text.template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5806440" y="5682996"/>
            <a:ext cx="5669280" cy="1417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85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 a {{ … }} template into text</a:t>
            </a:r>
            <a:endParaRPr lang="en-US" sz="950" dirty="0"/>
          </a:p>
        </p:txBody>
      </p:sp>
      <p:sp>
        <p:nvSpPr>
          <p:cNvPr id="64" name="Text 62"/>
          <p:cNvSpPr/>
          <p:nvPr/>
        </p:nvSpPr>
        <p:spPr>
          <a:xfrm>
            <a:off x="2971800" y="5824728"/>
            <a:ext cx="2743200" cy="1417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6E8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data.pick</a:t>
            </a:r>
            <a:endParaRPr lang="en-US" sz="1000" dirty="0"/>
          </a:p>
        </p:txBody>
      </p:sp>
      <p:sp>
        <p:nvSpPr>
          <p:cNvPr id="65" name="Text 63"/>
          <p:cNvSpPr/>
          <p:nvPr/>
        </p:nvSpPr>
        <p:spPr>
          <a:xfrm>
            <a:off x="5806440" y="5824728"/>
            <a:ext cx="5669280" cy="1417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85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a subset of keys</a:t>
            </a:r>
            <a:endParaRPr lang="en-US" sz="950" dirty="0"/>
          </a:p>
        </p:txBody>
      </p:sp>
      <p:sp>
        <p:nvSpPr>
          <p:cNvPr id="66" name="Text 64"/>
          <p:cNvSpPr/>
          <p:nvPr/>
        </p:nvSpPr>
        <p:spPr>
          <a:xfrm>
            <a:off x="777240" y="5966460"/>
            <a:ext cx="2103120" cy="1417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A85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</a:t>
            </a:r>
            <a:endParaRPr lang="en-US" sz="950" dirty="0"/>
          </a:p>
        </p:txBody>
      </p:sp>
      <p:sp>
        <p:nvSpPr>
          <p:cNvPr id="67" name="Text 65"/>
          <p:cNvSpPr/>
          <p:nvPr/>
        </p:nvSpPr>
        <p:spPr>
          <a:xfrm>
            <a:off x="2971800" y="5966460"/>
            <a:ext cx="2743200" cy="1417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6E8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log.info</a:t>
            </a:r>
            <a:endParaRPr lang="en-US" sz="1000" dirty="0"/>
          </a:p>
        </p:txBody>
      </p:sp>
      <p:sp>
        <p:nvSpPr>
          <p:cNvPr id="68" name="Text 66"/>
          <p:cNvSpPr/>
          <p:nvPr/>
        </p:nvSpPr>
        <p:spPr>
          <a:xfrm>
            <a:off x="5806440" y="5966460"/>
            <a:ext cx="5669280" cy="1417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85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 log line</a:t>
            </a:r>
            <a:endParaRPr lang="en-US" sz="950" dirty="0"/>
          </a:p>
        </p:txBody>
      </p:sp>
      <p:sp>
        <p:nvSpPr>
          <p:cNvPr id="69" name="Text 67"/>
          <p:cNvSpPr/>
          <p:nvPr/>
        </p:nvSpPr>
        <p:spPr>
          <a:xfrm>
            <a:off x="2971800" y="6108192"/>
            <a:ext cx="2743200" cy="1417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6E8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log.error</a:t>
            </a:r>
            <a:endParaRPr lang="en-US" sz="1000" dirty="0"/>
          </a:p>
        </p:txBody>
      </p:sp>
      <p:sp>
        <p:nvSpPr>
          <p:cNvPr id="70" name="Text 68"/>
          <p:cNvSpPr/>
          <p:nvPr/>
        </p:nvSpPr>
        <p:spPr>
          <a:xfrm>
            <a:off x="5806440" y="6108192"/>
            <a:ext cx="5669280" cy="1417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85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log line</a:t>
            </a:r>
            <a:endParaRPr lang="en-US" sz="950" dirty="0"/>
          </a:p>
        </p:txBody>
      </p:sp>
      <p:sp>
        <p:nvSpPr>
          <p:cNvPr id="71" name="Text 69"/>
          <p:cNvSpPr/>
          <p:nvPr/>
        </p:nvSpPr>
        <p:spPr>
          <a:xfrm>
            <a:off x="2971800" y="6249924"/>
            <a:ext cx="2743200" cy="1417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6E8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log.debug</a:t>
            </a:r>
            <a:endParaRPr lang="en-US" sz="1000" dirty="0"/>
          </a:p>
        </p:txBody>
      </p:sp>
      <p:sp>
        <p:nvSpPr>
          <p:cNvPr id="72" name="Text 70"/>
          <p:cNvSpPr/>
          <p:nvPr/>
        </p:nvSpPr>
        <p:spPr>
          <a:xfrm>
            <a:off x="5806440" y="6249924"/>
            <a:ext cx="5669280" cy="1417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85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 log line</a:t>
            </a:r>
            <a:endParaRPr lang="en-US" sz="950" dirty="0"/>
          </a:p>
        </p:txBody>
      </p:sp>
      <p:sp>
        <p:nvSpPr>
          <p:cNvPr id="73" name="Text 71"/>
          <p:cNvSpPr/>
          <p:nvPr/>
        </p:nvSpPr>
        <p:spPr>
          <a:xfrm>
            <a:off x="50292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5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Flowforge — Django + Celery workflow engine</a:t>
            </a:r>
            <a:endParaRPr lang="en-US" sz="900" dirty="0"/>
          </a:p>
        </p:txBody>
      </p:sp>
      <p:sp>
        <p:nvSpPr>
          <p:cNvPr id="74" name="Text 72"/>
          <p:cNvSpPr/>
          <p:nvPr/>
        </p:nvSpPr>
        <p:spPr>
          <a:xfrm>
            <a:off x="11000232" y="64922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5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13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A85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Flowforge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7772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6AA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105156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6E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runs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02920" y="1828800"/>
            <a:ext cx="6858000" cy="4572000"/>
          </a:xfrm>
          <a:prstGeom prst="rect">
            <a:avLst/>
          </a:prstGeom>
          <a:solidFill>
            <a:srgbClr val="161A23"/>
          </a:solidFill>
          <a:ln w="9525">
            <a:solidFill>
              <a:srgbClr val="23283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2377440"/>
            <a:ext cx="1828800" cy="822960"/>
          </a:xfrm>
          <a:prstGeom prst="rect">
            <a:avLst/>
          </a:prstGeom>
          <a:solidFill>
            <a:srgbClr val="1C2130"/>
          </a:solidFill>
          <a:ln w="19050">
            <a:solidFill>
              <a:srgbClr val="7A859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237744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6E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/ cURL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68680" y="3657600"/>
            <a:ext cx="1828800" cy="822960"/>
          </a:xfrm>
          <a:prstGeom prst="rect">
            <a:avLst/>
          </a:prstGeom>
          <a:solidFill>
            <a:srgbClr val="1C2130"/>
          </a:solidFill>
          <a:ln w="19050">
            <a:solidFill>
              <a:srgbClr val="6AA9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365760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6E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 + DRF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68680" y="4937760"/>
            <a:ext cx="1828800" cy="822960"/>
          </a:xfrm>
          <a:prstGeom prst="rect">
            <a:avLst/>
          </a:prstGeom>
          <a:solidFill>
            <a:srgbClr val="1C2130"/>
          </a:solidFill>
          <a:ln w="19050">
            <a:solidFill>
              <a:srgbClr val="22D3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493776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6E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/ Postgres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46120" y="2377440"/>
            <a:ext cx="1828800" cy="822960"/>
          </a:xfrm>
          <a:prstGeom prst="rect">
            <a:avLst/>
          </a:prstGeom>
          <a:solidFill>
            <a:srgbClr val="1C2130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46120" y="237744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6E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Celery Beat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E6E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(cron)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246120" y="3657600"/>
            <a:ext cx="1828800" cy="822960"/>
          </a:xfrm>
          <a:prstGeom prst="rect">
            <a:avLst/>
          </a:prstGeom>
          <a:solidFill>
            <a:srgbClr val="1C2130"/>
          </a:solidFill>
          <a:ln w="19050">
            <a:solidFill>
              <a:srgbClr val="F8717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46120" y="365760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6E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broker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246120" y="4937760"/>
            <a:ext cx="1828800" cy="822960"/>
          </a:xfrm>
          <a:prstGeom prst="rect">
            <a:avLst/>
          </a:prstGeom>
          <a:solidFill>
            <a:srgbClr val="1C2130"/>
          </a:solidFill>
          <a:ln w="19050">
            <a:solidFill>
              <a:srgbClr val="4ADE8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46120" y="493776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6E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Celery Worker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623560" y="3657600"/>
            <a:ext cx="1554480" cy="822960"/>
          </a:xfrm>
          <a:prstGeom prst="rect">
            <a:avLst/>
          </a:prstGeom>
          <a:solidFill>
            <a:srgbClr val="1C2130"/>
          </a:solidFill>
          <a:ln w="19050">
            <a:solidFill>
              <a:srgbClr val="C084F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623560" y="3657600"/>
            <a:ext cx="1554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6E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E6E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executor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1783080" y="3200400"/>
            <a:ext cx="0" cy="457200"/>
          </a:xfrm>
          <a:prstGeom prst="line">
            <a:avLst/>
          </a:prstGeom>
          <a:noFill/>
          <a:ln w="19050">
            <a:solidFill>
              <a:srgbClr val="7A8597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1783080" y="4480560"/>
            <a:ext cx="0" cy="457200"/>
          </a:xfrm>
          <a:prstGeom prst="line">
            <a:avLst/>
          </a:prstGeom>
          <a:noFill/>
          <a:ln w="19050">
            <a:solidFill>
              <a:srgbClr val="7A8597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2697480" y="4069080"/>
            <a:ext cx="548640" cy="0"/>
          </a:xfrm>
          <a:prstGeom prst="line">
            <a:avLst/>
          </a:prstGeom>
          <a:noFill/>
          <a:ln w="19050">
            <a:solidFill>
              <a:srgbClr val="7A8597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4160520" y="3200400"/>
            <a:ext cx="0" cy="457200"/>
          </a:xfrm>
          <a:prstGeom prst="line">
            <a:avLst/>
          </a:prstGeom>
          <a:noFill/>
          <a:ln w="19050">
            <a:solidFill>
              <a:srgbClr val="7A8597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4160520" y="4480560"/>
            <a:ext cx="0" cy="457200"/>
          </a:xfrm>
          <a:prstGeom prst="line">
            <a:avLst/>
          </a:prstGeom>
          <a:noFill/>
          <a:ln w="19050">
            <a:solidFill>
              <a:srgbClr val="7A8597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5074920" y="5349240"/>
            <a:ext cx="548640" cy="-868680"/>
          </a:xfrm>
          <a:prstGeom prst="line">
            <a:avLst/>
          </a:prstGeom>
          <a:noFill/>
          <a:ln w="19050">
            <a:solidFill>
              <a:srgbClr val="7A8597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5623560" y="4069080"/>
            <a:ext cx="-2926080" cy="1143000"/>
          </a:xfrm>
          <a:prstGeom prst="line">
            <a:avLst/>
          </a:prstGeom>
          <a:noFill/>
          <a:ln w="19050">
            <a:solidFill>
              <a:srgbClr val="7A8597"/>
            </a:solidFill>
            <a:prstDash val="solid"/>
            <a:tailEnd type="triangle"/>
          </a:ln>
        </p:spPr>
      </p:sp>
      <p:sp>
        <p:nvSpPr>
          <p:cNvPr id="27" name="Text 25"/>
          <p:cNvSpPr/>
          <p:nvPr/>
        </p:nvSpPr>
        <p:spPr>
          <a:xfrm>
            <a:off x="7680960" y="18288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6AA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IT LOCALLY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7680960" y="2286000"/>
            <a:ext cx="4114800" cy="3383280"/>
          </a:xfrm>
          <a:prstGeom prst="rect">
            <a:avLst/>
          </a:prstGeom>
          <a:solidFill>
            <a:srgbClr val="1C2130"/>
          </a:solidFill>
          <a:ln w="9525">
            <a:solidFill>
              <a:srgbClr val="23283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863840" y="2377440"/>
            <a:ext cx="374904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6E8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pip install -r requirements.txt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8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docker compose up -d redis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8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python manage.py migrate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8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python manage.py seed_flows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8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three terminals: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8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python manage.py runserver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8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celery -A flowforge worker -l info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8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celery -A flowforge beat   -l info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680960" y="585216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Then open  http://localhost:8000/flows/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0292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5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Flowforge — Django + Celery workflow engine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000232" y="64922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5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13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-914400"/>
            <a:ext cx="4572000" cy="4572000"/>
          </a:xfrm>
          <a:prstGeom prst="ellipse">
            <a:avLst/>
          </a:prstGeom>
          <a:solidFill>
            <a:srgbClr val="C084FC">
              <a:alpha val="10000"/>
            </a:srgbClr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64008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E6E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 goes next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548640" y="17373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7A85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 · in progress · queued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02920" y="2606040"/>
            <a:ext cx="3703320" cy="3657600"/>
          </a:xfrm>
          <a:prstGeom prst="rect">
            <a:avLst/>
          </a:prstGeom>
          <a:solidFill>
            <a:srgbClr val="161A23"/>
          </a:solidFill>
          <a:ln w="9525">
            <a:solidFill>
              <a:srgbClr val="23283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2788920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Shipped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3383280"/>
            <a:ext cx="32461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E6E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step types (action, condition, foreach, parallel, try, call_flow, …)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E6E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/ cron / webhook triggers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E6E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Retries with exponential backoff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E6E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Encrypted Connection credentials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E6E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connectors: Outlook, Teams, SharePoint, S3, DB…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E6E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Sandboxed python.exec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E6E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history with per-step trace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407408" y="2606040"/>
            <a:ext cx="3703320" cy="3657600"/>
          </a:xfrm>
          <a:prstGeom prst="rect">
            <a:avLst/>
          </a:prstGeom>
          <a:solidFill>
            <a:srgbClr val="161A23"/>
          </a:solidFill>
          <a:ln w="9525">
            <a:solidFill>
              <a:srgbClr val="23283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36008" y="2788920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AA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▷ Next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636008" y="3383280"/>
            <a:ext cx="32461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E6E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DAG editor (react-flow)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E6E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Resumable approval / wait steps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E6E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limiting on webhooks + API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E6E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Redis-backed token cache for Outlook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311896" y="2606040"/>
            <a:ext cx="3703320" cy="3657600"/>
          </a:xfrm>
          <a:prstGeom prst="rect">
            <a:avLst/>
          </a:prstGeom>
          <a:solidFill>
            <a:srgbClr val="161A23"/>
          </a:solidFill>
          <a:ln w="9525">
            <a:solidFill>
              <a:srgbClr val="23283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40496" y="2788920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A85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 Ideas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540496" y="3383280"/>
            <a:ext cx="32461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E6E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SharePoint / Drive connector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E6E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query connector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E6E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Telegram / Discord alerts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E6E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Sub-flow library + version pinning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48640" y="640080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A85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end-to-end, verified end-to-end.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Flowforge — Power Automate Clone</dc:title>
  <dc:subject>PptxGenJS Presentation</dc:subject>
  <dc:creator>Amit</dc:creator>
  <cp:lastModifiedBy>Amit</cp:lastModifiedBy>
  <cp:revision>1</cp:revision>
  <dcterms:created xsi:type="dcterms:W3CDTF">2026-05-27T13:27:57Z</dcterms:created>
  <dcterms:modified xsi:type="dcterms:W3CDTF">2026-05-27T13:27:57Z</dcterms:modified>
</cp:coreProperties>
</file>